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72" r:id="rId23"/>
    <p:sldId id="273" r:id="rId24"/>
    <p:sldId id="274" r:id="rId25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166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folder of vendor files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decision you can defend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arrive messy, in whatever shape each vendor happens to send them. What comes out the other end is a ranked, checked comparison - with every number traceable to the page it came from.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SHAPE OF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quiet handoffs, one continuous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6424" y="2660904"/>
            <a:ext cx="9994392" cy="0"/>
          </a:xfrm>
          <a:prstGeom prst="line">
            <a:avLst/>
          </a:prstGeom>
          <a:noFill/>
          <a:ln w="19050">
            <a:solidFill>
              <a:srgbClr val="D8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land as-is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8692" y="2377440"/>
            <a:ext cx="566928" cy="566928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10" name="Text 8"/>
          <p:cNvSpPr/>
          <p:nvPr/>
        </p:nvSpPr>
        <p:spPr>
          <a:xfrm>
            <a:off x="248869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8577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8577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understood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54424" y="2377440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14" name="Text 12"/>
          <p:cNvSpPr/>
          <p:nvPr/>
        </p:nvSpPr>
        <p:spPr>
          <a:xfrm>
            <a:off x="415442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1504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1504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version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20156" y="2377440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18" name="Text 16"/>
          <p:cNvSpPr/>
          <p:nvPr/>
        </p:nvSpPr>
        <p:spPr>
          <a:xfrm>
            <a:off x="582015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17236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17236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in full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85888" y="2377440"/>
            <a:ext cx="566928" cy="566928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8588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82968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2968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and linked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51620" y="2377440"/>
            <a:ext cx="566928" cy="566928"/>
          </a:xfrm>
          <a:prstGeom prst="ellipse">
            <a:avLst/>
          </a:prstGeom>
          <a:solidFill>
            <a:srgbClr val="18867B"/>
          </a:solidFill>
          <a:ln/>
        </p:spPr>
      </p:sp>
      <p:sp>
        <p:nvSpPr>
          <p:cNvPr id="26" name="Text 24"/>
          <p:cNvSpPr/>
          <p:nvPr/>
        </p:nvSpPr>
        <p:spPr>
          <a:xfrm>
            <a:off x="915162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8700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48700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yardstick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817352" y="2377440"/>
            <a:ext cx="566928" cy="566928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30" name="Text 28"/>
          <p:cNvSpPr/>
          <p:nvPr/>
        </p:nvSpPr>
        <p:spPr>
          <a:xfrm>
            <a:off x="1081735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314432" y="31089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1443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answer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166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748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send bids in whatever format they already use. Everything between that and your ranked comparison happens on the seven pages that follow.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0DDD9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0DDD9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11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B0DD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09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Bids land exactly as vendors send them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scans, spreadsheets, Word files, folders within folders - none of it needs to be retyped, reformatted, or filed by hand before anything can happen.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146304" cy="146304"/>
          </a:xfrm>
          <a:prstGeom prst="ellipse">
            <a:avLst/>
          </a:prstGeom>
          <a:solidFill>
            <a:srgbClr val="80D0C8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80D0C8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20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80D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995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file is understood the moment it lands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quotation, a technical datasheet, a deviation list, a set of meeting minutes - each is recognized for what it is on sight, however a particular vendor happened to name the file or bury it three folders deep.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80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pages, sorted in the time it takes to open one of them yourself.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146304" cy="146304"/>
          </a:xfrm>
          <a:prstGeom prst="ellipse">
            <a:avLst/>
          </a:prstGeom>
          <a:solidFill>
            <a:srgbClr val="51C8BC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028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51C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32028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latest word from each vendor counts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file quietly retires the one it replaces, so a superseded number can never drift back into the comparison next to the current one.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146304" cy="146304"/>
          </a:xfrm>
          <a:prstGeom prst="ellipse">
            <a:avLst/>
          </a:prstGeom>
          <a:solidFill>
            <a:srgbClr val="31B9AC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51180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31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84099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 print gets read, line by line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technical parameters, stated exceptions, contract clauses - pulled out to the exact figure and the exact wording, from documents that would otherwise take a reviewer days to work through vendor by vendor.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2514600" y="4892040"/>
            <a:ext cx="41148" cy="777240"/>
          </a:xfrm>
          <a:prstGeom prst="rect">
            <a:avLst/>
          </a:prstGeom>
          <a:solidFill>
            <a:srgbClr val="31B9AC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4892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summarized or paraphrased away - the number you see is the number the vendor wrote.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146304" cy="146304"/>
          </a:xfrm>
          <a:prstGeom prst="ellipse">
            <a:avLst/>
          </a:prstGeom>
          <a:solidFill>
            <a:srgbClr val="239F93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arch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239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is kept, and never lost track of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is filed against its vendor and the exact document it came from - so nothing downstream is ever taken on faith, and any number can be traced back in seconds.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146304" cy="146304"/>
          </a:xfrm>
          <a:prstGeom prst="ellipse">
            <a:avLst/>
          </a:prstGeom>
          <a:solidFill>
            <a:srgbClr val="B9791C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91440" cy="91440"/>
          </a:xfrm>
          <a:prstGeom prst="ellipse">
            <a:avLst/>
          </a:prstGeom>
          <a:solidFill>
            <a:srgbClr val="324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AB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B97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vendor is held to the same yardstick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stated requirement is checked against every vendor's stated facts, and every price is put on the same footing - currency, tax, freight, discount all accounted for. What you end up comparing is the real, landed cost, not the headline number two vendors happened to print differently.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91440" cy="91440"/>
          </a:xfrm>
          <a:prstGeom prst="ellipse">
            <a:avLst/>
          </a:prstGeom>
          <a:solidFill>
            <a:srgbClr val="D8E2DE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146304" cy="146304"/>
          </a:xfrm>
          <a:prstGeom prst="ellipse">
            <a:avLst/>
          </a:prstGeom>
          <a:solidFill>
            <a:srgbClr val="0C64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 OF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554480"/>
            <a:ext cx="1371600" cy="1371600"/>
          </a:xfrm>
          <a:prstGeom prst="ellipse">
            <a:avLst/>
          </a:prstGeom>
          <a:solidFill>
            <a:srgbClr val="0C645B"/>
          </a:solidFill>
          <a:ln/>
        </p:spPr>
      </p:sp>
      <p:pic>
        <p:nvPicPr>
          <p:cNvPr id="11" name="Image 0" descr="C:\Users\irahu\AppData\Local\Temp\claude\C--Users-irahu-git-workspace-procurement-and-cost-estimation\0635d108-592b-4726-9367-1fb16e3f614a\scratchpad\pptx-build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146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50" dirty="0">
                <a:solidFill>
                  <a:srgbClr val="0C6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14600" y="1993392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ranked answer you can stand behind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that names the cheapest compliant vendor, flags what's missing, and lets you trace any figure back to the page it came from - or challenge one, and watch the whole comparison recompute on the spot.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0A5049"/>
                </a:solidFill>
                <a:latin typeface="Consolas"/>
              </a:rPr>
              <a:t>FROM THE PORTAL </a:t>
            </a:r>
            <a:r>
              <a:rPr lang="en-US" sz="1500" b="0" dirty="0">
                <a:solidFill>
                  <a:srgbClr val="0A5049"/>
                </a:solidFill>
                <a:latin typeface="Consolas"/>
              </a:rPr>
              <a:t>-</a:t>
            </a:r>
            <a:r>
              <a:rPr sz="1500" b="0" dirty="0">
                <a:solidFill>
                  <a:srgbClr val="0A5049"/>
                </a:solidFill>
                <a:latin typeface="Consolas"/>
              </a:rPr>
              <a:t> PRICE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2420"/>
                </a:solidFill>
                <a:latin typeface="Cambria"/>
              </a:rPr>
              <a:t>Every price put on the same footing</a:t>
            </a:r>
          </a:p>
        </p:txBody>
      </p:sp>
      <p:pic>
        <p:nvPicPr>
          <p:cNvPr id="5" name="Picture 4" descr="priced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6" y="1382286"/>
            <a:ext cx="9753629" cy="53928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0A5049"/>
                </a:solidFill>
                <a:latin typeface="Consolas"/>
              </a:rPr>
              <a:t>FROM THE PORTAL </a:t>
            </a:r>
            <a:r>
              <a:rPr lang="en-US" sz="1500" b="0" dirty="0">
                <a:solidFill>
                  <a:srgbClr val="0A5049"/>
                </a:solidFill>
                <a:latin typeface="Consolas"/>
              </a:rPr>
              <a:t>-</a:t>
            </a:r>
            <a:r>
              <a:rPr sz="1500" b="0" dirty="0">
                <a:solidFill>
                  <a:srgbClr val="0A5049"/>
                </a:solidFill>
                <a:latin typeface="Consolas"/>
              </a:rPr>
              <a:t> TECHNICAL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42420"/>
                </a:solidFill>
                <a:latin typeface="Cambria"/>
              </a:rPr>
              <a:t>Every vendor against the same requirements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470DEF-3025-1192-4DF0-012E16AA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05665"/>
            <a:ext cx="11370025" cy="5189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THAT MEANS FOR YOU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shows up before you finish 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</p:sp>
      <p:pic>
        <p:nvPicPr>
          <p:cNvPr id="6" name="Image 0" descr="C:\Users\irahu\AppData\Local\Temp\claude\C--Users-irahu-git-workspace-procurement-and-cost-estimation\0635d108-592b-4726-9367-1fb16e3f614a\scratchpad\pptx-build\icons\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23495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collapse into minutes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596411"/>
            <a:ext cx="384048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tender that took a week of reading now takes as long as it takes vendors to upload.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91072" y="2221992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11" name="Image 1" descr="C:\Users\irahu\AppData\Local\Temp\claude\C--Users-irahu-git-workspace-procurement-and-cost-estimation\0635d108-592b-4726-9367-1fb16e3f614a\scratchpad\pptx-build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31" y="234955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missed on vendor eleven of twenty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40880" y="2770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the same careful read, whether it’s the first bid or the last.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75752" y="3977640"/>
            <a:ext cx="55824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04781" y="4233672"/>
            <a:ext cx="623621" cy="566928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16" name="Image 2" descr="C:\Users\irahu\AppData\Local\Temp\claude\C--Users-irahu-git-workspace-procurement-and-cost-estimation\0635d108-592b-4726-9367-1fb16e3f614a\scratchpad\pptx-build\icons\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095" y="4345641"/>
            <a:ext cx="342991" cy="3429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43314" y="4178808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back to its source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143314" y="4638876"/>
            <a:ext cx="4224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losing bidder asks why, you can point to the exact page.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 WORTH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 number on the week you get 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51C8BC"/>
          </a:solidFill>
          <a:ln/>
        </p:spPr>
        <p:txBody>
          <a:bodyPr/>
          <a:p/>
        </p:txBody>
      </p:sp>
      <p:pic>
        <p:nvPicPr>
          <p:cNvPr id="6" name="Image 0" descr="C:\Users\irahu\AppData\Local\Temp\claude\C--Users-irahu-git-workspace-procurement-and-cost-estimation\0635d108-592b-4726-9367-1fb16e3f614a\scratchpad\pptx-build\icons\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234955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week of reading, per tender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596411"/>
            <a:ext cx="3840480" cy="70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already spends three to five days comparing one package of bids.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91072" y="2221992"/>
            <a:ext cx="566928" cy="566928"/>
          </a:xfrm>
          <a:prstGeom prst="ellipse">
            <a:avLst/>
          </a:prstGeom>
          <a:solidFill>
            <a:srgbClr val="31B9AC"/>
          </a:solidFill>
          <a:ln/>
        </p:spPr>
        <p:txBody>
          <a:bodyPr/>
          <a:p/>
        </p:txBody>
      </p:sp>
      <p:pic>
        <p:nvPicPr>
          <p:cNvPr id="11" name="Image 1" descr="C:\Users\irahu\AppData\Local\Temp\claude\C--Users-irahu-git-workspace-procurement-and-cost-estimation\0635d108-592b-4726-9367-1fb16e3f614a\scratchpad\pptx-build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31" y="234955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hundred and fifty tenders a year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40880" y="2770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people running two comparisons each a month. The week is not an exception, it is the routine.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075752" y="3977640"/>
            <a:ext cx="55824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2DE"/>
            </a:solidFill>
            <a:prstDash val="solid"/>
          </a:ln>
          <a:effectLst>
            <a:outerShdw blurRad="76200" dist="25400" dir="5400000" algn="bl" rotWithShape="0">
              <a:srgbClr val="1424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404781" y="4233672"/>
            <a:ext cx="623621" cy="566928"/>
          </a:xfrm>
          <a:prstGeom prst="ellipse">
            <a:avLst/>
          </a:prstGeom>
          <a:solidFill>
            <a:srgbClr val="239F93"/>
          </a:solidFill>
          <a:ln/>
        </p:spPr>
        <p:txBody>
          <a:bodyPr/>
          <a:p/>
        </p:txBody>
      </p:sp>
      <p:pic>
        <p:nvPicPr>
          <p:cNvPr id="16" name="Image 2" descr="C:\Users\irahu\AppData\Local\Temp\claude\C--Users-irahu-git-workspace-procurement-and-cost-estimation\0635d108-592b-4726-9367-1fb16e3f614a\scratchpad\pptx-build\icons\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095" y="4345641"/>
            <a:ext cx="342991" cy="3429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43314" y="4178808"/>
            <a:ext cx="4224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third of a million in reading time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143314" y="4638876"/>
            <a:ext cx="4224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loaded rate of sixty dollars an hour, that is what a year of manual comparison costs.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66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days, your own tenders, nothing to unpick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15352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  <p:txBody>
          <a:bodyPr/>
          <a:p/>
        </p:txBody>
      </p:sp>
      <p:pic>
        <p:nvPicPr>
          <p:cNvPr id="5" name="Image 0" descr="C:\Users\irahu\AppData\Local\Temp\claude\C--Users-irahu-git-workspace-procurement-and-cost-estimation\0635d108-592b-4726-9367-1fb16e3f614a\scratchpad\pptx-build\icons\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32522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602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thousand five hundred, credited back if you continue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7599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ten seats and thirty tender comparisons. The full fee comes off your first year if you go ahead, so a pilot that works costs you nothing.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3267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  <p:txBody>
          <a:bodyPr/>
          <a:p/>
        </p:txBody>
      </p:sp>
      <p:pic>
        <p:nvPicPr>
          <p:cNvPr id="9" name="Image 1" descr="C:\Users\irahu\AppData\Local\Temp\claude\C--Users-irahu-git-workspace-procurement-and-cost-estimation\0635d108-592b-4726-9367-1fb16e3f614a\scratchpad\pptx-build\icons\ey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4984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1243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tenders, not a demonstration set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38434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packages your team is already working on, and you check our comparison against the answer they reached by hand.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649992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  <p:txBody>
          <a:bodyPr/>
          <a:p/>
        </p:txBody>
      </p:sp>
      <p:pic>
        <p:nvPicPr>
          <p:cNvPr id="13" name="Image 2" descr="C:\Users\irahu\AppData\Local\Temp\claude\C--Users-irahu-git-workspace-procurement-and-cost-estimation\0635d108-592b-4726-9367-1fb16e3f614a\scratchpad\pptx-build\icons\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67162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41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keep the output either way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80166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and every audit trail is exported and yours. If you stop at day ninety, you still have the work.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 to sit inside a manager's signing authority, so trying it needs no procurement exercise of its own.</a:t>
            </a:r>
            <a:endParaRPr lang="en-US" sz="1400" i="1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1ABC350-28CF-C139-BD52-31CC195B795E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HERE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66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annual plan priced on what you actually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15352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  <p:txBody>
          <a:bodyPr/>
          <a:p/>
        </p:txBody>
      </p:sp>
      <p:pic>
        <p:nvPicPr>
          <p:cNvPr id="5" name="Image 0" descr="C:\Users\irahu\AppData\Local\Temp\claude\C--Users-irahu-git-workspace-procurement-and-cost-estimation\0635d108-592b-4726-9367-1fb16e3f614a\scratchpad\pptx-build\icons\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32522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602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seats, and the tender volume to match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7599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against what the pilot measured rather than against a list price. For a team of ten that has been landing between thirty and forty-five thousand a year.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3267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  <p:txBody>
          <a:bodyPr/>
          <a:p/>
        </p:txBody>
      </p:sp>
      <p:pic>
        <p:nvPicPr>
          <p:cNvPr id="9" name="Image 1" descr="C:\Users\irahu\AppData\Local\Temp\claude\C--Users-irahu-git-workspace-procurement-and-cost-estimation\0635d108-592b-4726-9367-1fb16e3f614a\scratchpad\pptx-build\icons\ey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4984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1243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people without more paperwork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38434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seats are seventy-five dollars a month and draw on the same shared allowance, so nobody is rationed and no work is billed twice.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649992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  <p:txBody>
          <a:bodyPr/>
          <a:p/>
        </p:txBody>
      </p:sp>
      <p:pic>
        <p:nvPicPr>
          <p:cNvPr id="13" name="Image 2" descr="C:\Users\irahu\AppData\Local\Temp\claude\C--Users-irahu-git-workspace-procurement-and-cost-estimation\0635d108-592b-4726-9367-1fb16e3f614a\scratchpad\pptx-build\icons\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67162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41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never open a surprise invoice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80166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runs against an allowance you agree up front. If you are heading for it we tell you before you get there, not after.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Renewal is priced from your pilot's measured usage, never from a list.</a:t>
            </a:r>
            <a:endParaRPr lang="en-US" sz="1400" i="1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1ABC350-28CF-C139-BD52-31CC195B795E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THE PILOT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66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audited infrastructure, contractual data guarantees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15352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32522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1602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AWS: audited, not self-declared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7599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carries SOC 1, SOC 2, and SOC 3 reports, ISO 27001 / 27017 / 27018, PCI DSS Level 1, and FedRAMP authorization - attested by independent third-party auditors, not asserted by AWS itself.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23267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eyeo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4984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1243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Anthropic: your documents are never training data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38434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Anthropic’s commercial and API terms, prompts and outputs sent to Claude are not used to train their models; enterprise customers can additionally require zero data retention beyond abuse screening.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649992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67162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41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OpenAI: the same guarantee, opted out by default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801666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OpenAI’s API and enterprise terms exclude every submitted prompt and response from model training by default - nothing improves their models unless you explicitly opt in.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48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AWS, Anthropic, and OpenAI’s published compliance and data-usage policies - reconfirm current terms before citing this in a filing.</a:t>
            </a:r>
            <a:endParaRPr lang="en-US" sz="1400" i="1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1ABC350-28CF-C139-BD52-31CC195B795E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sit inside whatever perimeter your policy draws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87677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204847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87677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inside your approved region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2216277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model calls stay inside the network boundary you approve - an isolated environment per deployment, with no path for data to cross a border your policy doesn’t allow.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041" y="3597942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" y="381511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92041" y="3357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at rest and in transit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92041" y="364272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stored document and every extracted fact sits behind managed encryption keys; every connection, including every call to a model provider, runs over TLS.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172163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389333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92041" y="4911471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shaped around your org chart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5162010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buyer, reviewer, admin and per-project isolation, so a reviewer sees the tender they’re assigned to, not your whole portfolio.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0A5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happens off the books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03654"/>
            <a:ext cx="868680" cy="868680"/>
          </a:xfrm>
          <a:prstGeom prst="ellipse">
            <a:avLst/>
          </a:prstGeom>
          <a:solidFill>
            <a:srgbClr val="31B9AC"/>
          </a:solidFill>
          <a:ln/>
        </p:spPr>
      </p:sp>
      <p:pic>
        <p:nvPicPr>
          <p:cNvPr id="5" name="Image 0" descr="C:\Users\irahu\AppData\Local\Temp\claude\C--Users-irahu-git-workspace-procurement-and-cost-estimation\0635d108-592b-4726-9367-1fb16e3f614a\scratchpad\pptx-build\icons\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20824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89129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your compliance team can read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783080" y="1984961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classification, extraction, override, and re-run is already logged today - who, what, and when - independent of the comparison itself, and ready to extend into your own retention policy.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433439"/>
            <a:ext cx="868680" cy="868680"/>
          </a:xfrm>
          <a:prstGeom prst="ellipse">
            <a:avLst/>
          </a:prstGeom>
          <a:solidFill>
            <a:srgbClr val="239F93"/>
          </a:solidFill>
          <a:ln/>
        </p:spPr>
      </p:sp>
      <p:pic>
        <p:nvPicPr>
          <p:cNvPr id="9" name="Image 1" descr="C:\Users\irahu\AppData\Local\Temp\claude\C--Users-irahu-git-workspace-procurement-and-cost-estimation\0635d108-592b-4726-9367-1fb16e3f614a\scratchpad\pptx-build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50609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305983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against the obvious attack surface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783080" y="3521133"/>
            <a:ext cx="9281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archives are validated before they’re trusted - file type, size, and path checks that stop a malicious file from writing anywhere outside its own folder.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063224"/>
            <a:ext cx="868680" cy="868680"/>
          </a:xfrm>
          <a:prstGeom prst="ellipse">
            <a:avLst/>
          </a:prstGeom>
          <a:solidFill>
            <a:srgbClr val="18867B"/>
          </a:solidFill>
          <a:ln/>
        </p:spPr>
      </p:sp>
      <p:pic>
        <p:nvPicPr>
          <p:cNvPr id="13" name="Image 2" descr="C:\Users\irahu\AppData\Local\Temp\claude\C--Users-irahu-git-workspace-procurement-and-cost-estimation\0635d108-592b-4726-9367-1fb16e3f614a\scratchpad\pptx-build\icons\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280394"/>
            <a:ext cx="434340" cy="434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8554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4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watched, not just installed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83080" y="4935813"/>
            <a:ext cx="9281160" cy="115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45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scanning catches a vulnerable library before it becomes your incident, as a standing part of how the portal ships - not a one-time check.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960120" cy="960120"/>
          </a:xfrm>
          <a:prstGeom prst="ellipse">
            <a:avLst/>
          </a:prstGeom>
          <a:solidFill>
            <a:srgbClr val="B9791C"/>
          </a:solidFill>
          <a:ln/>
        </p:spPr>
      </p:sp>
      <p:pic>
        <p:nvPicPr>
          <p:cNvPr id="3" name="Image 0" descr="C:\Users\irahu\AppData\Local\Temp\claude\C--Users-irahu-git-workspace-procurement-and-cost-estimation\0635d108-592b-4726-9367-1fb16e3f614a\scratchpad\pptx-build\icons\s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38887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FDC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PROCUREMENT COMPARISON PORTAL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57400" y="2084832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tender documents -</a:t>
            </a:r>
            <a:endParaRPr lang="en-US" sz="2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4F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we’ll walk it through end to end.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folder of vendor files you already have. The same ranked comparison your team already trusts.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1078</Words>
  <Application>Microsoft Office PowerPoint</Application>
  <PresentationFormat>Widescreen</PresentationFormat>
  <Paragraphs>113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Jana</cp:lastModifiedBy>
  <cp:revision>7</cp:revision>
  <dcterms:created xsi:type="dcterms:W3CDTF">2026-07-30T23:00:25Z</dcterms:created>
  <dcterms:modified xsi:type="dcterms:W3CDTF">2026-08-10T17:23:47Z</dcterms:modified>
</cp:coreProperties>
</file>