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623560"/>
            <a:ext cx="164592" cy="164592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3" name="Shape 1"/>
          <p:cNvSpPr/>
          <p:nvPr/>
        </p:nvSpPr>
        <p:spPr>
          <a:xfrm>
            <a:off x="9820656" y="5056632"/>
            <a:ext cx="212141" cy="212141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4" name="Shape 2"/>
          <p:cNvSpPr/>
          <p:nvPr/>
        </p:nvSpPr>
        <p:spPr>
          <a:xfrm>
            <a:off x="9729216" y="5162702"/>
            <a:ext cx="197510" cy="543154"/>
          </a:xfrm>
          <a:prstGeom prst="line">
            <a:avLst/>
          </a:prstGeom>
          <a:noFill/>
          <a:ln w="12700">
            <a:solidFill>
              <a:srgbClr val="80D0C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4489704"/>
            <a:ext cx="259690" cy="259690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6" name="Shape 4"/>
          <p:cNvSpPr/>
          <p:nvPr/>
        </p:nvSpPr>
        <p:spPr>
          <a:xfrm>
            <a:off x="9926726" y="4619549"/>
            <a:ext cx="197510" cy="543154"/>
          </a:xfrm>
          <a:prstGeom prst="line">
            <a:avLst/>
          </a:prstGeom>
          <a:noFill/>
          <a:ln w="12700">
            <a:solidFill>
              <a:srgbClr val="51C8BC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8128" y="3922776"/>
            <a:ext cx="307238" cy="307238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8" name="Shape 6"/>
          <p:cNvSpPr/>
          <p:nvPr/>
        </p:nvSpPr>
        <p:spPr>
          <a:xfrm>
            <a:off x="10124237" y="4076395"/>
            <a:ext cx="197510" cy="543154"/>
          </a:xfrm>
          <a:prstGeom prst="line">
            <a:avLst/>
          </a:prstGeom>
          <a:noFill/>
          <a:ln w="12700">
            <a:solidFill>
              <a:srgbClr val="31B9AC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41864" y="3355848"/>
            <a:ext cx="354787" cy="354787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321747" y="3533242"/>
            <a:ext cx="197510" cy="543154"/>
          </a:xfrm>
          <a:prstGeom prst="line">
            <a:avLst/>
          </a:prstGeom>
          <a:noFill/>
          <a:ln w="12700">
            <a:solidFill>
              <a:srgbClr val="239F93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788920"/>
            <a:ext cx="402336" cy="402336"/>
          </a:xfrm>
          <a:prstGeom prst="ellipse">
            <a:avLst/>
          </a:prstGeom>
          <a:solidFill>
            <a:srgbClr val="1886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9258" y="2990088"/>
            <a:ext cx="197510" cy="543154"/>
          </a:xfrm>
          <a:prstGeom prst="line">
            <a:avLst/>
          </a:prstGeom>
          <a:noFill/>
          <a:ln w="12700">
            <a:solidFill>
              <a:srgbClr val="18867B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89336" y="2221992"/>
            <a:ext cx="449885" cy="449885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16768" y="2446934"/>
            <a:ext cx="197510" cy="543154"/>
          </a:xfrm>
          <a:prstGeom prst="line">
            <a:avLst/>
          </a:prstGeom>
          <a:noFill/>
          <a:ln w="12700">
            <a:solidFill>
              <a:srgbClr val="0C645B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folder of vendor files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decision you can defend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arrive messy, in whatever shape each vendor happens to send them. What comes out the other end is a ranked, checked comparison — with every number traceable to the page it came from.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SHAPE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quiet handoffs, one continuous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6424" y="2660904"/>
            <a:ext cx="9994392" cy="0"/>
          </a:xfrm>
          <a:prstGeom prst="line">
            <a:avLst/>
          </a:prstGeom>
          <a:noFill/>
          <a:ln w="19050">
            <a:solidFill>
              <a:srgbClr val="D8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land as-is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8692" y="2377440"/>
            <a:ext cx="566928" cy="566928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10" name="Text 8"/>
          <p:cNvSpPr/>
          <p:nvPr/>
        </p:nvSpPr>
        <p:spPr>
          <a:xfrm>
            <a:off x="248869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8577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8577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understood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54424" y="2377440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14" name="Text 12"/>
          <p:cNvSpPr/>
          <p:nvPr/>
        </p:nvSpPr>
        <p:spPr>
          <a:xfrm>
            <a:off x="415442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1504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1504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 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0156" y="2377440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18" name="Text 16"/>
          <p:cNvSpPr/>
          <p:nvPr/>
        </p:nvSpPr>
        <p:spPr>
          <a:xfrm>
            <a:off x="582015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17236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17236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in full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85888" y="2377440"/>
            <a:ext cx="566928" cy="566928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8588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82968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82968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and linked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51620" y="2377440"/>
            <a:ext cx="566928" cy="566928"/>
          </a:xfrm>
          <a:prstGeom prst="ellipse">
            <a:avLst/>
          </a:prstGeom>
          <a:solidFill>
            <a:srgbClr val="18867B"/>
          </a:solidFill>
          <a:ln/>
        </p:spPr>
      </p:sp>
      <p:sp>
        <p:nvSpPr>
          <p:cNvPr id="26" name="Text 24"/>
          <p:cNvSpPr/>
          <p:nvPr/>
        </p:nvSpPr>
        <p:spPr>
          <a:xfrm>
            <a:off x="915162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870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4870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yardstick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817352" y="2377440"/>
            <a:ext cx="566928" cy="566928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30" name="Text 28"/>
          <p:cNvSpPr/>
          <p:nvPr/>
        </p:nvSpPr>
        <p:spPr>
          <a:xfrm>
            <a:off x="1081735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31443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31443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answer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5166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748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send bids in whatever format they already use. Everything between that and your ranked comparison happens on the seven pages that follow.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0DDD9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B0DD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Bids land exactly as vendors send them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scans, spreadsheets, Word files, folders within folders — none of it needs to be retyped, reformatted, or filed by hand before anything can happen.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146304" cy="146304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80D0C8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80D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file is understood the moment it lands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quotation, a technical datasheet, a deviation list, a set of meeting minutes — each is recognized for what it is on sight, however a particular vendor happened to name the file or bury it three folders deep.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80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pages, sorted in the time it takes to open one of them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146304" cy="146304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51C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latest word from each vendor counts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file quietly retires the one it replaces, so a superseded number can never drift back into the comparison next to the current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146304" cy="146304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31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 print gets read, line by line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technical parameters, stated exceptions, contract clauses — pulled out to the exact figure and the exact wording, from documents that would otherwise take a reviewer days to work through vendor by vendor.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31B9AC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summarized or paraphrased away — the number you see is the number the vendor wrote.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146304" cy="146304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239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is kept, and never lost track of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is filed against its vendor and the exact document it came from — so nothing downstream is ever taken on faith, and any number can be traced back in seconds.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146304" cy="146304"/>
          </a:xfrm>
          <a:prstGeom prst="ellipse">
            <a:avLst/>
          </a:prstGeom>
          <a:solidFill>
            <a:srgbClr val="B9791C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B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B97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vendor is held to the same yardstick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stated requirement is checked against every vendor's stated facts, and every price is put on the same footing — currency, tax, freight, discount all accounted for. What you end up comparing is the real, landed cost, not the headline number two vendors happened to print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146304" cy="146304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0C645B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50" kern="0" dirty="0">
                <a:solidFill>
                  <a:srgbClr val="0C6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ranked answer you can stand behind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that names the cheapest compliant vendor, flags what's missing, and lets you trace any figure back to the page it came from — or challenge one, and watch the whole comparison recompute on the spot.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THAT MEANS FOR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shows up before you finish 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sx="100000" sy="100000" kx="0" ky="0" algn="bl" rotWithShape="0" blurRad="76200" dist="25400" dir="5400000">
              <a:srgbClr val="1424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6" name="Image 0" descr="C:\Users\irahu\AppData\Local\Temp\claude\C--Users-irahu-git-workspace-procurement-and-cost-estimation\0635d108-592b-4726-9367-1fb16e3f614a\scratchpad\pptx-build\icons\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3495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collapse into minutes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770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tender that took a week of reading now takes as long as it takes vendors to upload.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sx="100000" sy="100000" kx="0" ky="0" algn="bl" rotWithShape="0" blurRad="76200" dist="25400" dir="5400000">
              <a:srgbClr val="1424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91072" y="2221992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1" descr="C:\Users\irahu\AppData\Local\Temp\claude\C--Users-irahu-git-workspace-procurement-and-cost-estimation\0635d108-592b-4726-9367-1fb16e3f614a\scratchpad\pptx-build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631" y="234955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missed on vendor eleven of twenty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40880" y="2770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the same careful read, whether it’s the first bid or the last.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sx="100000" sy="100000" kx="0" ky="0" algn="bl" rotWithShape="0" blurRad="76200" dist="25400" dir="5400000">
              <a:srgbClr val="1424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233672"/>
            <a:ext cx="566928" cy="566928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6" name="Image 2" descr="C:\Users\irahu\AppData\Local\Temp\claude\C--Users-irahu-git-workspace-procurement-and-cost-estimation\0635d108-592b-4726-9367-1fb16e3f614a\scratchpad\pptx-build\icons\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436123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78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back to its source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7823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losing bidder asks why, you can point to the exact page.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9776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sx="100000" sy="100000" kx="0" ky="0" algn="bl" rotWithShape="0" blurRad="76200" dist="25400" dir="5400000">
              <a:srgbClr val="14242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91072" y="4233672"/>
            <a:ext cx="566928" cy="566928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21" name="Image 3" descr="C:\Users\irahu\AppData\Local\Temp\claude\C--Users-irahu-git-workspace-procurement-and-cost-estimation\0635d108-592b-4726-9367-1fb16e3f614a\scratchpad\pptx-build\icons\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31" y="436123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178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again, get the same answer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040880" y="47823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doesn’t shift depending on who reviewed it or when.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— THIRD-PARTY CERTIFICATIONS &amp; GUARANTEES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audited infrastructure, contractual data guarantees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2745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208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AWS: audited, not self-declared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247802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carries SOC 1, SOC 2, and SOC 3 reports, ISO 27001 / 27017 / 27018, PCI DSS Level 1, and FedRAMP authorization — attested by independent third-party auditors, not asserted by AWS itself.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eye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69189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4381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Anthropic: your documents are never training data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8953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Anthropic’s commercial and API terms, prompts and outputs sent to Claude are not used to train their models; enterprise customers can additionally require zero data retention beyond abuse screening.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892040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s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1092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8554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OpenAI: the same guarantee, opted out by default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531266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OpenAI’s API and enterprise terms exclude every submitted prompt and response from model training by default — nothing improves their models unless you explicitly opt in.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AWS, Anthropic, and OpenAI’s published compliance and data-usage policies — reconfirm current terms before citing this in a filing.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— 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sit inside whatever perimeter your policy draws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2745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208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inside your approved region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247802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model calls stay inside the network boundary you approve — an isolated environment per deployment, with no path for data to cross a border your policy doesn’t allow.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69189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4381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at rest and in transit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8953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stored document and every extracted fact sits behind managed encryption keys; every connection, including every call to a model provider, runs over TLS.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892040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1092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8554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shaped around your org chart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531266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— buyer, reviewer, admin — and per-project isolation, so a reviewer sees the tender they’re assigned to, not your whole portfolio.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— 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happens off the books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2745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208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your compliance team can read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247802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classification, extraction, override, and re-run is already logged today — who, what, and when — independent of the comparison itself, and ready to extend into your own retention policy.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69189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4381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against the obvious attack surface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8953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archives are validated before they’re trusted — file type, size, and path checks that stop a malicious file from writing anywhere outside its own folder.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892040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1092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8554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watched, not just installed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531266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scanning catches a vulnerable library before it becomes your incident, as a standing part of how the portal ships — not a one-time check.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960120" cy="96012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3" name="Image 0" descr="C:\Users\irahu\AppData\Local\Temp\claude\C--Users-irahu-git-workspace-procurement-and-cost-estimation\0635d108-592b-4726-9367-1fb16e3f614a\scratchpad\pptx-build\icons\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8887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57400" y="2084832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tender documents —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we’ll walk it through end to end.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folder of vendor files you already have. The same ranked comparison your team already trusts.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2026-07-30T23:00:25Z</dcterms:created>
  <dcterms:modified xsi:type="dcterms:W3CDTF">2026-07-30T23:00:25Z</dcterms:modified>
</cp:coreProperties>
</file>